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60" r:id="rId2"/>
    <p:sldId id="4421" r:id="rId3"/>
    <p:sldId id="4422" r:id="rId4"/>
    <p:sldId id="4423" r:id="rId5"/>
    <p:sldId id="4424" r:id="rId6"/>
    <p:sldId id="4425" r:id="rId7"/>
    <p:sldId id="4426" r:id="rId8"/>
    <p:sldId id="4427" r:id="rId9"/>
    <p:sldId id="4428" r:id="rId10"/>
    <p:sldId id="4429" r:id="rId11"/>
    <p:sldId id="4430" r:id="rId12"/>
    <p:sldId id="4440" r:id="rId13"/>
    <p:sldId id="4441" r:id="rId14"/>
    <p:sldId id="4442" r:id="rId15"/>
    <p:sldId id="4431" r:id="rId16"/>
    <p:sldId id="4433" r:id="rId17"/>
    <p:sldId id="4434" r:id="rId18"/>
    <p:sldId id="4435" r:id="rId19"/>
    <p:sldId id="4443" r:id="rId20"/>
    <p:sldId id="4436" r:id="rId21"/>
    <p:sldId id="4438" r:id="rId22"/>
    <p:sldId id="4439" r:id="rId23"/>
    <p:sldId id="4437" r:id="rId24"/>
    <p:sldId id="4446" r:id="rId25"/>
    <p:sldId id="4448" r:id="rId26"/>
    <p:sldId id="4447" r:id="rId27"/>
    <p:sldId id="4449" r:id="rId28"/>
    <p:sldId id="4450" r:id="rId29"/>
    <p:sldId id="4444" r:id="rId30"/>
    <p:sldId id="444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Bhatnagar09/Wipro-Capstoneproject-team14.git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MANVITHA-PADALA/onlinebookstore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25SUB4530_CP_JAVA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9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&amp; 10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 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9676272" cy="1139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Team 14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                            Pranav Bhatnagar 58684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                            Padala </a:t>
            </a:r>
            <a:r>
              <a:rPr lang="en-US" sz="2400" dirty="0" err="1">
                <a:solidFill>
                  <a:srgbClr val="FFFFFF"/>
                </a:solidFill>
                <a:latin typeface="HK Grotesk" pitchFamily="2" charset="77"/>
              </a:rPr>
              <a:t>Manvitha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58679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     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9932805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– Online Book Store (Catalog Management System)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4" y="1354574"/>
            <a:ext cx="1108072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Introduction 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The Online Book Store (Catalog Management System)is a web-based application developed to manage and display book information in an efficient and organized manner..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It replaces manual or spreadsheet-based book tracking with a centralized digital platform, enabling administrators to manage book details and users to easily browse and search available books.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The system is developed using Angular for the frontend and Spring Boot for the backend with REST APIs.</a:t>
            </a: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D3032-B556-A91A-981E-8250A33CE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862E1825-6333-41D5-E771-CF08492BD77E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D7400C0-485A-874F-6D5D-115D01E82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34A314C-6C61-4D84-1B85-2D54121D8D92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7CB2D-20DA-B466-107D-17102AE1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992C1-F4CE-9AC8-B9C3-CA40A6B2E3A6}"/>
              </a:ext>
            </a:extLst>
          </p:cNvPr>
          <p:cNvSpPr txBox="1"/>
          <p:nvPr/>
        </p:nvSpPr>
        <p:spPr>
          <a:xfrm>
            <a:off x="273074" y="1354574"/>
            <a:ext cx="11080725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Problem Statement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In many bookstores and libraries, book information is maintained manually or in basic systems, which leads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Difficulty in managing large volumes of book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Slow and inefficient search process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Errors while updating book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Lack of centralized and secure access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Poor user experience</a:t>
            </a: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There is a need for a structured and centralized catalog management system to efficiently manage and display book information.</a:t>
            </a:r>
          </a:p>
        </p:txBody>
      </p:sp>
    </p:spTree>
    <p:extLst>
      <p:ext uri="{BB962C8B-B14F-4D97-AF65-F5344CB8AC3E}">
        <p14:creationId xmlns:p14="http://schemas.microsoft.com/office/powerpoint/2010/main" val="4214248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BEB73-466C-0D03-3CC4-644E6AC1F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DCF2EE09-856A-C061-DE90-4CA50D407FAC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A82B561-06E1-43F3-D7E6-06784041A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55E6433-F75B-30FC-924C-40851BFBD08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32FA7-E604-83BC-6BA4-AA2E14FF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6EEE1-E46D-B711-3451-D61CCEA2433F}"/>
              </a:ext>
            </a:extLst>
          </p:cNvPr>
          <p:cNvSpPr txBox="1"/>
          <p:nvPr/>
        </p:nvSpPr>
        <p:spPr>
          <a:xfrm>
            <a:off x="273074" y="1354574"/>
            <a:ext cx="110807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Objectives: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400" dirty="0">
                <a:solidFill>
                  <a:srgbClr val="0187CC"/>
                </a:solidFill>
              </a:rPr>
              <a:t>The key objectives of the Online Book Store Catalog Management System are: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87CC"/>
                </a:solidFill>
              </a:rPr>
              <a:t>To maintain an organized book catalog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87CC"/>
                </a:solidFill>
              </a:rPr>
              <a:t>To enable fast searching of 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87CC"/>
                </a:solidFill>
              </a:rPr>
              <a:t>To allow administrators to update and manage book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87CC"/>
                </a:solidFill>
              </a:rPr>
              <a:t>To provide a user-friendly and responsive interface</a:t>
            </a:r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35843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BAA7F-E173-669B-1B0C-F636A8E01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346FCAD-33FF-4924-74CE-0C74F391DDC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C1B8075-AFE0-BCA2-8C45-33660646F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90169E1-533F-8E81-8199-8D7ADDBB08D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425B0-9D6D-8BAB-21F9-D2B1C745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B3C11-CBFB-623A-828B-B87BD2B672C2}"/>
              </a:ext>
            </a:extLst>
          </p:cNvPr>
          <p:cNvSpPr txBox="1"/>
          <p:nvPr/>
        </p:nvSpPr>
        <p:spPr>
          <a:xfrm>
            <a:off x="273074" y="1354574"/>
            <a:ext cx="1108072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Core Functionalities: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system provides the following core functionalities: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User registration and login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Add, update and delete book records by Admin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Search books by title or author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View book price and stock status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Input validation and proper error handling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All operations are performed using RESTful APIs, ensuring loose coupling between frontend and backend.</a:t>
            </a:r>
          </a:p>
        </p:txBody>
      </p:sp>
    </p:spTree>
    <p:extLst>
      <p:ext uri="{BB962C8B-B14F-4D97-AF65-F5344CB8AC3E}">
        <p14:creationId xmlns:p14="http://schemas.microsoft.com/office/powerpoint/2010/main" val="128566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CD5A3-6818-183B-2089-8F4057B7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86C85CE4-B3F5-9AE1-7705-F1610DE645F7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6EC1D6E-C60D-2D2C-7489-A69FFA330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FDFC1CD-B055-B171-9A0E-C8CFDBEC0F4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056FD-2A83-4DFC-3474-0E0703AA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3301B7-1D76-79F2-6395-99A9D3BDE511}"/>
              </a:ext>
            </a:extLst>
          </p:cNvPr>
          <p:cNvSpPr txBox="1"/>
          <p:nvPr/>
        </p:nvSpPr>
        <p:spPr>
          <a:xfrm>
            <a:off x="273074" y="1354574"/>
            <a:ext cx="1108072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Key Features: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Role-based access for Admin and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Fast and accurate book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Secure data handling using backend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Real-time updates to book catalog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User-friendly </a:t>
            </a:r>
            <a:r>
              <a:rPr lang="en-IN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interface using Angular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Stock availability indicator for each book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Scalable architecture for future modules like orders and payments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Clean separation of layers (Controller, Service, Repository)</a:t>
            </a:r>
            <a:endParaRPr lang="en-IN" sz="2200" dirty="0">
              <a:solidFill>
                <a:schemeClr val="tx2">
                  <a:lumMod val="50000"/>
                  <a:lumOff val="50000"/>
                </a:schemeClr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4136234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1409B-E357-D8E7-041A-93EA5E76D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94EBEF1C-BC52-3A23-1FC0-3A96C9458CAC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1020D05-0C19-8225-3590-4CE5E32D0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AB15DF5-9C21-2121-A6AC-3C66A205D46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FE191-6A71-466C-E4CA-411704FA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EB9DB-0A13-2385-7C75-187943915796}"/>
              </a:ext>
            </a:extLst>
          </p:cNvPr>
          <p:cNvSpPr txBox="1"/>
          <p:nvPr/>
        </p:nvSpPr>
        <p:spPr>
          <a:xfrm>
            <a:off x="273075" y="971116"/>
            <a:ext cx="1108072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RESTful API-Based Architecture: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The project follows a RESTful API architecture, where: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POST → Add  new book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GET → View books(s)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PUT → Update book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DELETE → Remove book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APIs return JSON responses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Stateless communication is maintained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Clear separation between frontend and backend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This architecture improves scalability, maintainability  of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492378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776DE-CB1D-471D-7636-A08116EF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93747DE-CC26-2DC4-057D-78171454B9C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ACCAF1A-446D-56BD-D5BA-50A5B5DC4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A1D7C51-C6BA-A8FB-40A6-99483D811B9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D762D-29A7-9B88-E096-3A314365B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69AB0-01B7-BCB2-BE1C-6077C34B14D3}"/>
              </a:ext>
            </a:extLst>
          </p:cNvPr>
          <p:cNvSpPr txBox="1"/>
          <p:nvPr/>
        </p:nvSpPr>
        <p:spPr>
          <a:xfrm>
            <a:off x="273075" y="971116"/>
            <a:ext cx="1108072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Technology Stack: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1.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Frontend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Angular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2.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Backend  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                                                                               4. 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DevOps &amp;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Spring Boot                                                                          - Docker (Containerization)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Spring Data JPA                                                                   - Microsoft Azure App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REST APIs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3.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MYSQL / PostgreSQL</a:t>
            </a:r>
          </a:p>
        </p:txBody>
      </p:sp>
    </p:spTree>
    <p:extLst>
      <p:ext uri="{BB962C8B-B14F-4D97-AF65-F5344CB8AC3E}">
        <p14:creationId xmlns:p14="http://schemas.microsoft.com/office/powerpoint/2010/main" val="1001191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59DC2-CEB1-4C9E-E6BD-E2EB04BDB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D792C2B5-0E1E-395F-4878-1FFD5B3F8BA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28A7DE0-EE2B-EE6C-AB9B-E7957A1AD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AC7DAD6-6BD0-3C2F-DE03-F23A448BAE9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84713-09BB-6412-BA30-85445FC3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A4F68-A995-6CA7-7245-10CA9773B873}"/>
              </a:ext>
            </a:extLst>
          </p:cNvPr>
          <p:cNvSpPr txBox="1"/>
          <p:nvPr/>
        </p:nvSpPr>
        <p:spPr>
          <a:xfrm>
            <a:off x="273075" y="971116"/>
            <a:ext cx="1108072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System Roles: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Admin: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Add, edit and  delete 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Manage complete book catalog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User: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view available 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Search books by title or author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Role –based dashboards are provided for both Admin and User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4089777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64F4D-0666-C176-77D8-7F9EA410D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AFA3F4A-4940-8883-C3DE-E962C760714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535D18E-0571-6D6F-AD92-6DA014012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BD49C45-B6C3-570B-505A-D514AD678A1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62D2D-C9FE-2F56-10BE-22D5A19D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5AC121-0906-10C3-B7B9-9E98193802F5}"/>
              </a:ext>
            </a:extLst>
          </p:cNvPr>
          <p:cNvSpPr txBox="1"/>
          <p:nvPr/>
        </p:nvSpPr>
        <p:spPr>
          <a:xfrm>
            <a:off x="273075" y="971116"/>
            <a:ext cx="110807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Application Workflow: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User opens the application: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User opens the 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User registers or logs 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User or Admin accesses their dashboard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User searches and views 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Admin adds, edits or deletes book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Frontend performs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Data is sent to backend REST APIs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Backend processes and stores data in the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Book list is refreshed automatically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D63339F-F47B-D71A-E56E-509B3FE44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searches and views books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986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07200-BC01-1039-9FB5-FFB92C6BD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E5A152F-FB38-EC39-419D-4D654D47EF80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9CB2A5F-E417-87FB-D5E6-E220EEB74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2BF1671-0C5B-718A-AF4A-6E1B855BC469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2455-28C4-852F-E7C1-75813EB52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CC3A1-1F98-6AE5-CC88-A4171EBDC2C6}"/>
              </a:ext>
            </a:extLst>
          </p:cNvPr>
          <p:cNvSpPr txBox="1"/>
          <p:nvPr/>
        </p:nvSpPr>
        <p:spPr>
          <a:xfrm>
            <a:off x="273075" y="971116"/>
            <a:ext cx="1108072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DevOps &amp; Deployment: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Docker: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Containerizes frontend and backend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Ensures consistent environment across development and production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Simplifies deployment process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Azure: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Hosts backend Spring Boot APIs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Hosts Angular frontend 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Supports scalability and cloud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Enables easy application management.</a:t>
            </a:r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1497844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5BAF85C-4E87-0ECE-64EC-83552A353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594934-2D96-6FD7-90FB-E171FB6DF896}"/>
              </a:ext>
            </a:extLst>
          </p:cNvPr>
          <p:cNvSpPr txBox="1"/>
          <p:nvPr/>
        </p:nvSpPr>
        <p:spPr>
          <a:xfrm>
            <a:off x="108630" y="385011"/>
            <a:ext cx="90353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4D5CDA-06E7-5599-CC4C-C6813C36A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1" y="1152939"/>
            <a:ext cx="11092071" cy="504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91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A478CA4-1B7D-FEDC-59DD-B3CE3C7C7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3F7182-4E4A-2C8E-92F3-C94449761694}"/>
              </a:ext>
            </a:extLst>
          </p:cNvPr>
          <p:cNvSpPr txBox="1"/>
          <p:nvPr/>
        </p:nvSpPr>
        <p:spPr>
          <a:xfrm>
            <a:off x="108630" y="240632"/>
            <a:ext cx="114737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6DCD44-587A-D0F8-4BE2-4347CD0C98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53" y="906448"/>
            <a:ext cx="10662700" cy="538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06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BF1996B-1933-3BF7-20EA-04267A3CA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24E53A-5B09-171A-3FF2-38ECE068040C}"/>
              </a:ext>
            </a:extLst>
          </p:cNvPr>
          <p:cNvSpPr txBox="1"/>
          <p:nvPr/>
        </p:nvSpPr>
        <p:spPr>
          <a:xfrm>
            <a:off x="368968" y="214026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BCBDF1-0B40-B33F-E084-3D8452ADFE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96" y="938255"/>
            <a:ext cx="10274063" cy="509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12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E59EA-CCB2-D10E-E3C4-5EE6218B4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B0D9338-E563-D734-BA68-10F7DE741392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4364A16-3039-8C5C-BBAC-FB980655C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C866D4EC-E46B-1D60-D149-78181F987FA0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43DA5-EBD8-2106-7F2E-6A439190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52309-D18E-8E9F-6617-6D6071E9FCAE}"/>
              </a:ext>
            </a:extLst>
          </p:cNvPr>
          <p:cNvSpPr txBox="1"/>
          <p:nvPr/>
        </p:nvSpPr>
        <p:spPr>
          <a:xfrm>
            <a:off x="273075" y="971116"/>
            <a:ext cx="11080725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Login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    Allows users and admins to log in using email and password. 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    Validates credentials using backend REST APIs</a:t>
            </a:r>
            <a:endParaRPr lang="en-IN" dirty="0">
              <a:solidFill>
                <a:srgbClr val="0187CC"/>
              </a:solidFill>
              <a:latin typeface="HK Grotesk"/>
            </a:endParaRP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D025AA06-CA36-5429-D96F-F44BC947FDA1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38605" y="2490201"/>
            <a:ext cx="7071995" cy="386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07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D32BA-5E2E-3134-5204-334F9EDF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C394D6EA-9B37-1A44-08DE-3E6E3B35A62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FA951A9-9704-8305-6918-DDE4A762E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E46AD82-A14A-B0F5-B12B-5DCA1F54F0F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03594-00EF-A49B-3AB7-F9B16D50F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3EFA11-6653-32F2-B5D2-E21BF32AF6AA}"/>
              </a:ext>
            </a:extLst>
          </p:cNvPr>
          <p:cNvSpPr txBox="1"/>
          <p:nvPr/>
        </p:nvSpPr>
        <p:spPr>
          <a:xfrm>
            <a:off x="273075" y="971116"/>
            <a:ext cx="110807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Registration Success Message: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</a:rPr>
              <a:t>Shows confirmation after successful registration. Improves user feedback and usability</a:t>
            </a:r>
            <a:endParaRPr lang="en-IN" dirty="0">
              <a:solidFill>
                <a:srgbClr val="0187CC"/>
              </a:solidFill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9" name="Image 7">
            <a:extLst>
              <a:ext uri="{FF2B5EF4-FFF2-40B4-BE49-F238E27FC236}">
                <a16:creationId xmlns:a16="http://schemas.microsoft.com/office/drawing/2014/main" id="{B169E44E-C86B-8BC1-41C5-7AF25E2B205D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88359" y="2464234"/>
            <a:ext cx="7071995" cy="342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52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D326-8AFA-4384-1ACB-72FF5B02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0CE1C5F0-F5A6-5F5E-AC98-006B580BA4D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B3B721F-3472-7EEE-4D38-0799BE9F1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BE1FAC8-6868-1832-4B30-932746B8101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30655-2849-72CA-19D4-59FE0D53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FFF9F4-3495-D8EF-06EF-7EB6E4D0158C}"/>
              </a:ext>
            </a:extLst>
          </p:cNvPr>
          <p:cNvSpPr txBox="1"/>
          <p:nvPr/>
        </p:nvSpPr>
        <p:spPr>
          <a:xfrm>
            <a:off x="108630" y="820647"/>
            <a:ext cx="110807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Invalid Login Message: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</a:rPr>
              <a:t>Displays error message for wrong credentials. Handled using proper validation and error</a:t>
            </a:r>
            <a:endParaRPr lang="en-IN" dirty="0">
              <a:solidFill>
                <a:srgbClr val="0187CC"/>
              </a:solidFill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5" name="Image 8">
            <a:extLst>
              <a:ext uri="{FF2B5EF4-FFF2-40B4-BE49-F238E27FC236}">
                <a16:creationId xmlns:a16="http://schemas.microsoft.com/office/drawing/2014/main" id="{64A6B75D-0350-3963-6846-16A17C778F63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38605" y="2507036"/>
            <a:ext cx="7071995" cy="341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58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46E46-57A6-6389-5399-43719D68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9D72E01-0CB1-B88D-46E0-3C908C7712C4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AA29F7C-04ED-4928-8EB4-7385BA93F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C5995BD-5E21-78EC-F01B-3513F52ABB8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F5A50-EE1B-089A-B26E-BE441A7C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EC1BA-199F-3057-3CC8-15716CE96B3A}"/>
              </a:ext>
            </a:extLst>
          </p:cNvPr>
          <p:cNvSpPr txBox="1"/>
          <p:nvPr/>
        </p:nvSpPr>
        <p:spPr>
          <a:xfrm>
            <a:off x="273075" y="971116"/>
            <a:ext cx="110807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User dashboard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</a:rPr>
              <a:t>Users can view available books with price and stock. Users can search books by title or author</a:t>
            </a:r>
            <a:endParaRPr lang="en-IN" dirty="0">
              <a:solidFill>
                <a:srgbClr val="0187CC"/>
              </a:solidFill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Image 9">
            <a:extLst>
              <a:ext uri="{FF2B5EF4-FFF2-40B4-BE49-F238E27FC236}">
                <a16:creationId xmlns:a16="http://schemas.microsoft.com/office/drawing/2014/main" id="{FC8E6281-E609-D4CA-CE75-1999402BE7C2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3122" y="2406349"/>
            <a:ext cx="7062470" cy="332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37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9C92F-7274-A112-C2FC-516AE0AC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B1068E4-D546-D82B-B4D1-FD45608AD0AB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C4BFD97-A8F3-2524-C7F7-E4BFE44C4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4FB2DDD-0ED7-F620-2BF7-6454D1A6D441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CB97A-55B1-4CDA-C4FD-84A87A99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CE309E-27C6-CC3D-80F4-74B3B2973FB9}"/>
              </a:ext>
            </a:extLst>
          </p:cNvPr>
          <p:cNvSpPr txBox="1"/>
          <p:nvPr/>
        </p:nvSpPr>
        <p:spPr>
          <a:xfrm>
            <a:off x="273075" y="1019243"/>
            <a:ext cx="110807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Admin dashboard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IN" dirty="0">
              <a:solidFill>
                <a:srgbClr val="0187CC"/>
              </a:solidFill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5" name="Image 10">
            <a:extLst>
              <a:ext uri="{FF2B5EF4-FFF2-40B4-BE49-F238E27FC236}">
                <a16:creationId xmlns:a16="http://schemas.microsoft.com/office/drawing/2014/main" id="{55C45D41-76F4-FEF9-C0B4-85B0BC4FCBD8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56084" y="1745933"/>
            <a:ext cx="8071151" cy="409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645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3E72F-BF5B-EA35-CDBC-6A593ACB7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E84C70AC-8DAA-5E0E-01B0-CAF0880B023D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C0B048D-AACC-9A86-A0CB-88E0320E9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B78F23A-BDCD-4927-BA07-A09CC45F7C2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D43AC-5304-8111-E5AB-C79DA5AC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62297-33D2-AFC0-CC19-E38BF14C9637}"/>
              </a:ext>
            </a:extLst>
          </p:cNvPr>
          <p:cNvSpPr txBox="1"/>
          <p:nvPr/>
        </p:nvSpPr>
        <p:spPr>
          <a:xfrm>
            <a:off x="185976" y="703918"/>
            <a:ext cx="110807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Admin –Add New Book: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</a:rPr>
              <a:t>  Admin can view the complete book list</a:t>
            </a:r>
            <a:endParaRPr lang="en-IN" dirty="0">
              <a:solidFill>
                <a:srgbClr val="0187CC"/>
              </a:solidFill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5" name="Image 12">
            <a:extLst>
              <a:ext uri="{FF2B5EF4-FFF2-40B4-BE49-F238E27FC236}">
                <a16:creationId xmlns:a16="http://schemas.microsoft.com/office/drawing/2014/main" id="{EF72AA42-E945-7644-05B1-7B5AB7341C49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95657" y="2273578"/>
            <a:ext cx="7071995" cy="342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52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9F00CD0-3B39-8E5A-267C-EC92A160C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4B3CAB-7016-3E85-154E-A8B0B98441ED}"/>
              </a:ext>
            </a:extLst>
          </p:cNvPr>
          <p:cNvSpPr txBox="1"/>
          <p:nvPr/>
        </p:nvSpPr>
        <p:spPr>
          <a:xfrm>
            <a:off x="108630" y="288758"/>
            <a:ext cx="8662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B1FE1E-0FA2-9DE5-71F1-40EAE98EEC29}"/>
              </a:ext>
            </a:extLst>
          </p:cNvPr>
          <p:cNvSpPr txBox="1"/>
          <p:nvPr/>
        </p:nvSpPr>
        <p:spPr>
          <a:xfrm>
            <a:off x="253009" y="1315452"/>
            <a:ext cx="902333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187CC"/>
                </a:solidFill>
              </a:rPr>
              <a:t>Admin – Edit Book :</a:t>
            </a:r>
          </a:p>
          <a:p>
            <a:endParaRPr lang="en-IN" sz="2800" dirty="0">
              <a:solidFill>
                <a:srgbClr val="0187CC"/>
              </a:solidFill>
            </a:endParaRPr>
          </a:p>
          <a:p>
            <a:r>
              <a:rPr lang="en-US" dirty="0">
                <a:solidFill>
                  <a:srgbClr val="0187CC"/>
                </a:solidFill>
              </a:rPr>
              <a:t>Admin can update book title, author, price and stock. Changes are updated in the database using REST APIs.</a:t>
            </a:r>
            <a:endParaRPr lang="en-IN" dirty="0">
              <a:solidFill>
                <a:srgbClr val="0187CC"/>
              </a:solidFill>
            </a:endParaRPr>
          </a:p>
          <a:p>
            <a:endParaRPr lang="en-IN" dirty="0"/>
          </a:p>
        </p:txBody>
      </p:sp>
      <p:pic>
        <p:nvPicPr>
          <p:cNvPr id="5" name="Image 11">
            <a:extLst>
              <a:ext uri="{FF2B5EF4-FFF2-40B4-BE49-F238E27FC236}">
                <a16:creationId xmlns:a16="http://schemas.microsoft.com/office/drawing/2014/main" id="{581BE452-EA7E-57EB-256E-D108F0A2C10A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99372" y="2843572"/>
            <a:ext cx="7071995" cy="341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88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D686063-1263-FFD6-7EB2-04FDC294C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6CF3CA-6725-C28C-7B13-1EE01AA6C11E}"/>
              </a:ext>
            </a:extLst>
          </p:cNvPr>
          <p:cNvSpPr txBox="1"/>
          <p:nvPr/>
        </p:nvSpPr>
        <p:spPr>
          <a:xfrm>
            <a:off x="0" y="208548"/>
            <a:ext cx="115663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F5AF0F-A076-CA93-EE54-32FB27A0097C}"/>
              </a:ext>
            </a:extLst>
          </p:cNvPr>
          <p:cNvSpPr txBox="1"/>
          <p:nvPr/>
        </p:nvSpPr>
        <p:spPr>
          <a:xfrm>
            <a:off x="108630" y="914400"/>
            <a:ext cx="899526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187CC"/>
                </a:solidFill>
              </a:rPr>
              <a:t>Admin – Search and Delete Book: </a:t>
            </a:r>
          </a:p>
          <a:p>
            <a:endParaRPr lang="en-US" sz="2800" dirty="0">
              <a:solidFill>
                <a:srgbClr val="0187CC"/>
              </a:solidFill>
            </a:endParaRPr>
          </a:p>
          <a:p>
            <a:r>
              <a:rPr lang="en-US" dirty="0">
                <a:solidFill>
                  <a:srgbClr val="0187CC"/>
                </a:solidFill>
              </a:rPr>
              <a:t>Admin can search books by title or author.</a:t>
            </a:r>
            <a:endParaRPr lang="en-IN" dirty="0">
              <a:solidFill>
                <a:srgbClr val="0187CC"/>
              </a:solidFill>
            </a:endParaRPr>
          </a:p>
          <a:p>
            <a:r>
              <a:rPr lang="en-US" dirty="0">
                <a:solidFill>
                  <a:srgbClr val="0187CC"/>
                </a:solidFill>
              </a:rPr>
              <a:t>Admin can delete a book with confirmation dialog.</a:t>
            </a:r>
            <a:endParaRPr lang="en-IN" dirty="0">
              <a:solidFill>
                <a:srgbClr val="0187CC"/>
              </a:solidFill>
            </a:endParaRPr>
          </a:p>
          <a:p>
            <a:endParaRPr lang="en-IN" dirty="0"/>
          </a:p>
        </p:txBody>
      </p:sp>
      <p:pic>
        <p:nvPicPr>
          <p:cNvPr id="7" name="Image 13">
            <a:extLst>
              <a:ext uri="{FF2B5EF4-FFF2-40B4-BE49-F238E27FC236}">
                <a16:creationId xmlns:a16="http://schemas.microsoft.com/office/drawing/2014/main" id="{1694E469-67C6-965D-AFC5-B1BFBCCF0FAE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48710" y="2614930"/>
            <a:ext cx="7052945" cy="332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79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DDBA2-BA5B-4EF9-84D8-F3C838EC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5D7C86B-736F-9385-393D-DE6D541195B8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  <a:p>
            <a:pPr>
              <a:spcBef>
                <a:spcPct val="0"/>
              </a:spcBef>
            </a:pPr>
            <a:r>
              <a:rPr lang="en-US" sz="2200" dirty="0">
                <a:solidFill>
                  <a:srgbClr val="0187CC"/>
                </a:solidFill>
                <a:latin typeface="HK Grotesk Bold"/>
              </a:rPr>
              <a:t>Database Service on Azure</a:t>
            </a:r>
            <a:r>
              <a:rPr lang="en-US" sz="3200" dirty="0">
                <a:solidFill>
                  <a:srgbClr val="0187CC"/>
                </a:solidFill>
                <a:latin typeface="HK Grotesk Bold"/>
              </a:rPr>
              <a:t>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8BAA935-74B3-FAA2-25C2-04E1EC784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82904E0-2A94-8BD3-38CA-4D3D525E96E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6CCB6-73B7-5C9A-D4C3-6F405E19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23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576A51-0A73-1DC2-01B6-A625E28AA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96" y="1423282"/>
            <a:ext cx="10417187" cy="439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41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BB582-D227-B245-7EB9-97893A65C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C80D046B-FC83-2644-7A88-C6DAD71596AD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  <a:p>
            <a:pPr>
              <a:spcBef>
                <a:spcPct val="0"/>
              </a:spcBef>
            </a:pPr>
            <a:r>
              <a:rPr lang="en-US" sz="2200" dirty="0">
                <a:solidFill>
                  <a:srgbClr val="0187CC"/>
                </a:solidFill>
                <a:latin typeface="HK Grotesk Bold"/>
              </a:rPr>
              <a:t>Backend on Azure</a:t>
            </a:r>
            <a:r>
              <a:rPr lang="en-US" sz="3200" dirty="0">
                <a:solidFill>
                  <a:srgbClr val="0187CC"/>
                </a:solidFill>
                <a:latin typeface="HK Grotesk Bold"/>
              </a:rPr>
              <a:t>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6C6B919-EF7A-3958-6862-CA74E5C21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48DB52E-81E5-C989-6C4B-9E58FA43623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57327-8E6C-03BB-6848-D38E36C64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230D58-AEAA-4D77-B211-729F14500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12" y="1494844"/>
            <a:ext cx="9939131" cy="452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330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F2F79-45F9-9C54-8063-B1DF9BB5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93C5EEAE-4691-207A-8E42-9DE60B22E807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  <a:p>
            <a:pPr>
              <a:spcBef>
                <a:spcPct val="0"/>
              </a:spcBef>
            </a:pPr>
            <a:r>
              <a:rPr lang="en-US" sz="2200" dirty="0">
                <a:solidFill>
                  <a:srgbClr val="0187CC"/>
                </a:solidFill>
                <a:latin typeface="HK Grotesk Bold"/>
              </a:rPr>
              <a:t> Backend on Azure</a:t>
            </a:r>
            <a:r>
              <a:rPr lang="en-US" sz="3200" dirty="0">
                <a:solidFill>
                  <a:srgbClr val="0187CC"/>
                </a:solidFill>
                <a:latin typeface="HK Grotesk Bold"/>
              </a:rPr>
              <a:t>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18B8047-B558-5F22-82B0-61F0ADAF8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CFB6279-BE27-9F5D-0CC5-2BEE5EB0D3F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E4B15-0B41-D7F9-D014-A68B7C38B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8DB76A-0106-0484-E2CE-3B0DDEA48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70" y="1558456"/>
            <a:ext cx="9341970" cy="481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95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CDCBC-085F-63F0-B222-F9CBFD05C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AB30986-C38F-52B5-A2DC-80BB9768C51D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  <a:p>
            <a:pPr>
              <a:spcBef>
                <a:spcPct val="0"/>
              </a:spcBef>
            </a:pPr>
            <a:r>
              <a:rPr lang="en-US" sz="2200" dirty="0">
                <a:solidFill>
                  <a:srgbClr val="0187CC"/>
                </a:solidFill>
                <a:latin typeface="HK Grotesk Bold"/>
              </a:rPr>
              <a:t> Backend on Azure</a:t>
            </a:r>
            <a:r>
              <a:rPr lang="en-US" sz="3200" dirty="0">
                <a:solidFill>
                  <a:srgbClr val="0187CC"/>
                </a:solidFill>
                <a:latin typeface="HK Grotesk Bold"/>
              </a:rPr>
              <a:t>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2B3224B-183D-F355-9780-B8AEC4091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42EF66F-A99E-B6A5-A395-81FFA0789B3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ED971-4AA1-C047-2BAE-E37346F4D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06CE06-6FA0-8394-973A-93C5A56ED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27" y="1196360"/>
            <a:ext cx="9167854" cy="480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3049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52B0C-7ADB-2F3E-9BE4-4A177BD12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9388810-EEBD-297E-5475-2BF04928AD8F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  <a:p>
            <a:pPr>
              <a:spcBef>
                <a:spcPct val="0"/>
              </a:spcBef>
            </a:pPr>
            <a:r>
              <a:rPr lang="en-US" sz="2200" dirty="0">
                <a:solidFill>
                  <a:srgbClr val="0187CC"/>
                </a:solidFill>
                <a:latin typeface="HK Grotesk Bold"/>
              </a:rPr>
              <a:t> Backend on Azure</a:t>
            </a:r>
            <a:r>
              <a:rPr lang="en-US" sz="3200" dirty="0">
                <a:solidFill>
                  <a:srgbClr val="0187CC"/>
                </a:solidFill>
                <a:latin typeface="HK Grotesk Bold"/>
              </a:rPr>
              <a:t>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61B58C4-1B82-1F93-08D5-DD7989D8F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09476EB-3D22-9000-0D7E-367C9CF905FB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AF752-3600-1A48-22B7-43270015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75C85D-5978-1382-9E25-F233E5E0D4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546" y="1258588"/>
            <a:ext cx="9414344" cy="468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9691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BB0DA-2D3C-0C8A-BDEC-3612BD982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9A80B73-7D04-B1B0-594C-53D3B562CE06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  <a:p>
            <a:pPr>
              <a:spcBef>
                <a:spcPct val="0"/>
              </a:spcBef>
            </a:pPr>
            <a:r>
              <a:rPr lang="en-US" sz="2200" dirty="0">
                <a:solidFill>
                  <a:srgbClr val="0187CC"/>
                </a:solidFill>
                <a:latin typeface="HK Grotesk Bold"/>
              </a:rPr>
              <a:t> Backend on Azure</a:t>
            </a:r>
            <a:r>
              <a:rPr lang="en-US" sz="3200" dirty="0">
                <a:solidFill>
                  <a:srgbClr val="0187CC"/>
                </a:solidFill>
                <a:latin typeface="HK Grotesk Bold"/>
              </a:rPr>
              <a:t>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01EA0D9-C723-4490-7624-99AC63BAD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8FFD0AA-DBA0-7D98-BCAB-62B2F8A1C394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E4ECC-251E-7190-71F2-DBB3A295F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28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BF69DF-DB7C-B6B3-5B96-8AB910932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83" y="1196360"/>
            <a:ext cx="10646798" cy="516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124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35B2B-35D5-8BE5-BDDF-E99A6A037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9BCDBFE9-7C6F-E5AF-54E1-8833AA6B9350}"/>
              </a:ext>
            </a:extLst>
          </p:cNvPr>
          <p:cNvSpPr/>
          <p:nvPr/>
        </p:nvSpPr>
        <p:spPr>
          <a:xfrm>
            <a:off x="273075" y="211475"/>
            <a:ext cx="10102565" cy="8248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  <a:p>
            <a:pPr>
              <a:spcBef>
                <a:spcPct val="0"/>
              </a:spcBef>
            </a:pPr>
            <a:r>
              <a:rPr lang="en-US" sz="2200" dirty="0">
                <a:solidFill>
                  <a:srgbClr val="0187CC"/>
                </a:solidFill>
                <a:latin typeface="HK Grotesk Bold"/>
              </a:rPr>
              <a:t>GitHub URL’s</a:t>
            </a:r>
            <a:r>
              <a:rPr lang="en-US" sz="3200" dirty="0">
                <a:solidFill>
                  <a:srgbClr val="0187CC"/>
                </a:solidFill>
                <a:latin typeface="HK Grotesk Bold"/>
              </a:rPr>
              <a:t>:</a:t>
            </a:r>
          </a:p>
          <a:p>
            <a:pPr>
              <a:spcBef>
                <a:spcPct val="0"/>
              </a:spcBef>
            </a:pPr>
            <a:endParaRPr lang="en-US" sz="32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187CC"/>
                </a:solidFill>
                <a:latin typeface="HK Grotesk Bold"/>
              </a:rPr>
              <a:t>Pranav Bhatnagar(58684) -</a:t>
            </a:r>
            <a:r>
              <a:rPr lang="en-US" sz="2000" dirty="0" err="1">
                <a:solidFill>
                  <a:srgbClr val="0187CC"/>
                </a:solidFill>
                <a:latin typeface="HK Grotesk Bold"/>
              </a:rPr>
              <a:t>github</a:t>
            </a:r>
            <a:r>
              <a:rPr lang="en-US" sz="2000" dirty="0">
                <a:solidFill>
                  <a:srgbClr val="0187CC"/>
                </a:solidFill>
                <a:latin typeface="HK Grotesk Bold"/>
              </a:rPr>
              <a:t> url: </a:t>
            </a:r>
            <a:r>
              <a:rPr lang="en-US" sz="2000" dirty="0">
                <a:solidFill>
                  <a:srgbClr val="0187CC"/>
                </a:solidFill>
                <a:latin typeface="HK Grotesk Bold"/>
                <a:hlinkClick r:id="rId2"/>
              </a:rPr>
              <a:t>https://github.com/Bhatnagar09/Wipro-Capstoneproject-team14.git</a:t>
            </a: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D4CF5E9-8809-8D97-9797-63747F8AF8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02D85A4-A096-6C67-4A48-BAF9F69BF62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3667A-A6C1-5926-8BF0-1BF637F9F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29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553B7-3446-77F4-2800-607225F095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64" y="2401293"/>
            <a:ext cx="8507896" cy="401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3991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E4DF-3972-996A-4266-FB703E7E1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56D839EA-1473-7269-A457-CA24C9FF2756}"/>
              </a:ext>
            </a:extLst>
          </p:cNvPr>
          <p:cNvSpPr/>
          <p:nvPr/>
        </p:nvSpPr>
        <p:spPr>
          <a:xfrm>
            <a:off x="273075" y="211475"/>
            <a:ext cx="10102565" cy="71404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  <a:p>
            <a:pPr>
              <a:spcBef>
                <a:spcPct val="0"/>
              </a:spcBef>
            </a:pPr>
            <a:r>
              <a:rPr lang="en-US" sz="2200">
                <a:solidFill>
                  <a:srgbClr val="0187CC"/>
                </a:solidFill>
                <a:latin typeface="HK Grotesk Bold"/>
              </a:rPr>
              <a:t>GitHub </a:t>
            </a:r>
            <a:r>
              <a:rPr lang="en-US" sz="2200" dirty="0">
                <a:solidFill>
                  <a:srgbClr val="0187CC"/>
                </a:solidFill>
                <a:latin typeface="HK Grotesk Bold"/>
              </a:rPr>
              <a:t>URL’s</a:t>
            </a:r>
            <a:r>
              <a:rPr lang="en-US" sz="3200" dirty="0">
                <a:solidFill>
                  <a:srgbClr val="0187CC"/>
                </a:solidFill>
                <a:latin typeface="HK Grotesk Bold"/>
              </a:rPr>
              <a:t>:</a:t>
            </a:r>
          </a:p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187CC"/>
                </a:solidFill>
                <a:latin typeface="HK Grotesk Bold"/>
              </a:rPr>
              <a:t>Padala </a:t>
            </a:r>
            <a:r>
              <a:rPr lang="en-US" sz="2000" dirty="0" err="1">
                <a:solidFill>
                  <a:srgbClr val="0187CC"/>
                </a:solidFill>
                <a:latin typeface="HK Grotesk Bold"/>
              </a:rPr>
              <a:t>Manvitha</a:t>
            </a:r>
            <a:r>
              <a:rPr lang="en-US" sz="2000" dirty="0">
                <a:solidFill>
                  <a:srgbClr val="0187CC"/>
                </a:solidFill>
                <a:latin typeface="HK Grotesk Bold"/>
              </a:rPr>
              <a:t>(58679)- </a:t>
            </a:r>
            <a:r>
              <a:rPr lang="en-US" sz="2000" dirty="0">
                <a:solidFill>
                  <a:srgbClr val="0187CC"/>
                </a:solidFill>
                <a:latin typeface="HK Grotesk Bold"/>
                <a:hlinkClick r:id="rId2"/>
              </a:rPr>
              <a:t>https://github.com/MANVITHA-PADALA/onlinebookstore</a:t>
            </a: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B1147BE-48DF-B1CF-7A0F-2B3C20BAB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BCDBB7F-706B-E47D-5518-A7564078BA14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D88D2-2B8A-3C6F-19C5-EEA48BEEA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30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1540C-8C02-5091-600C-BBC577092B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79" y="1622066"/>
            <a:ext cx="8873618" cy="473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363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3931</TotalTime>
  <Words>1231</Words>
  <Application>Microsoft Office PowerPoint</Application>
  <PresentationFormat>Widescreen</PresentationFormat>
  <Paragraphs>263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MANVITHA PADALA (RA2111047010184)</cp:lastModifiedBy>
  <cp:revision>34</cp:revision>
  <dcterms:created xsi:type="dcterms:W3CDTF">2024-05-04T13:11:57Z</dcterms:created>
  <dcterms:modified xsi:type="dcterms:W3CDTF">2026-02-09T17:26:53Z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